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397700" cy="43192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ia_template_fundo_16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397700" cy="43192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6705600"/>
            <a:ext cx="31369000" cy="448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84400" y="14173200"/>
            <a:ext cx="12255500" cy="654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84400" y="22974300"/>
            <a:ext cx="12255500" cy="58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84400" y="30937200"/>
            <a:ext cx="12255500" cy="554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932400" y="14173200"/>
            <a:ext cx="12255500" cy="654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32400" y="22974300"/>
            <a:ext cx="12255500" cy="589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932400" y="30937200"/>
            <a:ext cx="12255500" cy="554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6921500"/>
            <a:ext cx="29857700" cy="1244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00000"/>
              </a:lnSpc>
              <a:defRPr sz="8000" b="1">
                <a:solidFill>
                  <a:srgbClr val="172C4D"/>
                </a:solidFill>
                <a:latin typeface="Calibri"/>
              </a:defRPr>
            </a:pPr>
            <a:r>
              <a:t>Arquitetura híbrida para detecção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8039100"/>
            <a:ext cx="29857700" cy="1244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00000"/>
              </a:lnSpc>
              <a:defRPr sz="8000" b="1">
                <a:solidFill>
                  <a:srgbClr val="172C4D"/>
                </a:solidFill>
                <a:latin typeface="Calibri"/>
              </a:defRPr>
            </a:pPr>
            <a:r>
              <a:t>tráfego malicioso em ambientes 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9359900"/>
            <a:ext cx="29857700" cy="685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00000"/>
              </a:lnSpc>
              <a:defRPr sz="3600" b="1">
                <a:solidFill>
                  <a:srgbClr val="172C4D"/>
                </a:solidFill>
                <a:latin typeface="Calibri"/>
              </a:defRPr>
            </a:pPr>
            <a:r>
              <a:t>Matheus Antony Souza Pereira  |  Vitor Barbosa Carlos de Souza (orientador)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10033000"/>
            <a:ext cx="29857700" cy="6223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00000"/>
              </a:lnSpc>
              <a:defRPr sz="3100" b="0">
                <a:solidFill>
                  <a:srgbClr val="566375"/>
                </a:solidFill>
                <a:latin typeface="Calibri"/>
              </a:defRPr>
            </a:pPr>
            <a:r>
              <a:t>Departamento de Informática (DPI) — Universidade Federal de Viçosa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0000" y="10553700"/>
            <a:ext cx="29857700" cy="609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00000"/>
              </a:lnSpc>
              <a:defRPr sz="3000" b="0">
                <a:solidFill>
                  <a:srgbClr val="566375"/>
                </a:solidFill>
                <a:latin typeface="Calibri"/>
              </a:defRPr>
            </a:pPr>
            <a:r>
              <a:t>matheus.antony@ufv.br  |  vitor.souza@ufv.br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0000" y="11150600"/>
            <a:ext cx="29857700" cy="609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00000"/>
              </a:lnSpc>
              <a:defRPr sz="3000" b="1">
                <a:solidFill>
                  <a:srgbClr val="174E88"/>
                </a:solidFill>
                <a:latin typeface="Calibri"/>
              </a:defRPr>
            </a:pPr>
            <a:r>
              <a:t>ODS 9: Indústria, inovação e infraestrutura   •   Categoria: Pesquisa (Graduação)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0300" y="14325600"/>
            <a:ext cx="11506200" cy="2895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600" b="0">
                <a:solidFill>
                  <a:srgbClr val="334155"/>
                </a:solidFill>
                <a:latin typeface="Calibri"/>
              </a:defRPr>
            </a:pPr>
            <a:r>
              <a:t>Dispositivos IoT possuem processamento, memória e mecanismos de segurança limitados. Isso dificulta executar sistemas complexos de detecção de intrusão (IDS) diretamente na borda. A computação em névoa permite realizar a análise em gateways e servidores próximos à rede.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0300" y="17373600"/>
            <a:ext cx="11506200" cy="1600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600" b="0">
                <a:solidFill>
                  <a:srgbClr val="334155"/>
                </a:solidFill>
                <a:latin typeface="Calibri"/>
              </a:defRPr>
            </a:pPr>
            <a:r>
              <a:t>Investigamos se atributos de conexão revelam padrões associados a tráfego normal e a famílias de ataques, sem utilizar os rótulos na formação dos agrupamentos.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0300" y="19177000"/>
            <a:ext cx="5524500" cy="1460500"/>
          </a:xfrm>
          <a:prstGeom prst="roundRect">
            <a:avLst>
              <a:gd name="adj" fmla="val 8000"/>
            </a:avLst>
          </a:prstGeom>
          <a:solidFill>
            <a:srgbClr val="EF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89900" y="19177000"/>
            <a:ext cx="5524500" cy="1460500"/>
          </a:xfrm>
          <a:prstGeom prst="roundRect">
            <a:avLst>
              <a:gd name="adj" fmla="val 8000"/>
            </a:avLst>
          </a:prstGeom>
          <a:solidFill>
            <a:srgbClr val="F5F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67000" y="19304000"/>
            <a:ext cx="4953000" cy="838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5400" b="1">
                <a:solidFill>
                  <a:srgbClr val="174E88"/>
                </a:solidFill>
                <a:latin typeface="Calibri"/>
              </a:defRPr>
            </a:pPr>
            <a:r>
              <a:t>211.043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7800" y="20142200"/>
            <a:ext cx="5207000" cy="406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700" b="0">
                <a:solidFill>
                  <a:srgbClr val="566375"/>
                </a:solidFill>
                <a:latin typeface="Calibri"/>
              </a:defRPr>
            </a:pPr>
            <a:r>
              <a:t>registros do TON_IoT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3900" y="19304000"/>
            <a:ext cx="5029200" cy="838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5200" b="1">
                <a:solidFill>
                  <a:srgbClr val="6938B7"/>
                </a:solidFill>
                <a:latin typeface="Calibri"/>
              </a:defRPr>
            </a:pPr>
            <a:r>
              <a:t>10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9300" y="20154900"/>
            <a:ext cx="5181600" cy="406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700" b="0">
                <a:solidFill>
                  <a:srgbClr val="566375"/>
                </a:solidFill>
                <a:latin typeface="Calibri"/>
              </a:defRPr>
            </a:pPr>
            <a:r>
              <a:t>normal + 9 ataques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13000" y="23279100"/>
            <a:ext cx="177800" cy="177800"/>
          </a:xfrm>
          <a:prstGeom prst="roundRect">
            <a:avLst>
              <a:gd name="adj" fmla="val 8000"/>
            </a:avLst>
          </a:prstGeom>
          <a:solidFill>
            <a:srgbClr val="693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95600" y="23063200"/>
            <a:ext cx="10922000" cy="1524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600" b="0">
                <a:solidFill>
                  <a:srgbClr val="334155"/>
                </a:solidFill>
                <a:latin typeface="Calibri"/>
              </a:defRPr>
            </a:pPr>
            <a:r>
              <a:t>Investigar se agrupamentos formados sem rótulos correspondem aos tipos conhecidos de tráfego e de ataque.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13000" y="25146000"/>
            <a:ext cx="177800" cy="177800"/>
          </a:xfrm>
          <a:prstGeom prst="roundRect">
            <a:avLst>
              <a:gd name="adj" fmla="val 8000"/>
            </a:avLst>
          </a:prstGeom>
          <a:solidFill>
            <a:srgbClr val="693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95600" y="24930100"/>
            <a:ext cx="10922000" cy="1524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600" b="0">
                <a:solidFill>
                  <a:srgbClr val="334155"/>
                </a:solidFill>
                <a:latin typeface="Calibri"/>
              </a:defRPr>
            </a:pPr>
            <a:r>
              <a:t>Comparar algoritmos de clustering e medir o alinhamento dos grupos com AMI, V-measure e testes de permutação.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13000" y="26987500"/>
            <a:ext cx="177800" cy="177800"/>
          </a:xfrm>
          <a:prstGeom prst="roundRect">
            <a:avLst>
              <a:gd name="adj" fmla="val 8000"/>
            </a:avLst>
          </a:prstGeom>
          <a:solidFill>
            <a:srgbClr val="693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95600" y="26771600"/>
            <a:ext cx="10922000" cy="1600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600" b="0">
                <a:solidFill>
                  <a:srgbClr val="334155"/>
                </a:solidFill>
                <a:latin typeface="Calibri"/>
              </a:defRPr>
            </a:pPr>
            <a:r>
              <a:t>Treinar classificadores para rótulo binário, tipo de ataque e cluster, analisando a influência da divisão por grupos.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25700" y="31076900"/>
            <a:ext cx="11531600" cy="1625600"/>
          </a:xfrm>
          <a:prstGeom prst="roundRect">
            <a:avLst>
              <a:gd name="adj" fmla="val 8000"/>
            </a:avLst>
          </a:prstGeom>
          <a:solidFill>
            <a:srgbClr val="EF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1229300"/>
            <a:ext cx="10960100" cy="520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74E88"/>
                </a:solidFill>
                <a:latin typeface="Calibri"/>
              </a:defRPr>
            </a:pPr>
            <a:r>
              <a:t>DADOS E SEPARAÇÃO POR GRUPOS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5900" y="31775400"/>
            <a:ext cx="10871200" cy="889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TON_IoT / Zeek: 183.158 treino, 16.901 validação e 10.984 teste; partições independentes por IPs, serviço e protocolo.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5700" y="32918400"/>
            <a:ext cx="11531600" cy="1651000"/>
          </a:xfrm>
          <a:prstGeom prst="roundRect">
            <a:avLst>
              <a:gd name="adj" fmla="val 8000"/>
            </a:avLst>
          </a:prstGeom>
          <a:solidFill>
            <a:srgbClr val="F5F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33070800"/>
            <a:ext cx="10960100" cy="520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6938B7"/>
                </a:solidFill>
                <a:latin typeface="Calibri"/>
              </a:defRPr>
            </a:pPr>
            <a:r>
              <a:t>FASE 1 · AGRUPAMENTO SEM RÓTULOS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55900" y="33616900"/>
            <a:ext cx="108712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One-Hot Encoding e SVD (50 comp.); K-Means, DBSCAN e hierárquico avaliados. Escolha: MiniBatch K-Means, k = 30.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5700" y="34810700"/>
            <a:ext cx="11531600" cy="1625600"/>
          </a:xfrm>
          <a:prstGeom prst="roundRect">
            <a:avLst>
              <a:gd name="adj" fmla="val 8000"/>
            </a:avLst>
          </a:prstGeom>
          <a:solidFill>
            <a:srgbClr val="EF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4963100"/>
            <a:ext cx="10960100" cy="520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74E88"/>
                </a:solidFill>
                <a:latin typeface="Calibri"/>
              </a:defRPr>
            </a:pPr>
            <a:r>
              <a:t>FASE 2 · CLASSIFICAÇÃO SUPERVISIONADA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5900" y="35509200"/>
            <a:ext cx="10871200" cy="889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Random Forest para prever label, type e cluster_kmeans30, com teste por grupos e avaliação por classe.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957800" y="14351000"/>
            <a:ext cx="5562600" cy="1765300"/>
          </a:xfrm>
          <a:prstGeom prst="roundRect">
            <a:avLst>
              <a:gd name="adj" fmla="val 8000"/>
            </a:avLst>
          </a:prstGeom>
          <a:solidFill>
            <a:srgbClr val="EF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3761700" y="14351000"/>
            <a:ext cx="5588000" cy="1765300"/>
          </a:xfrm>
          <a:prstGeom prst="roundRect">
            <a:avLst>
              <a:gd name="adj" fmla="val 8000"/>
            </a:avLst>
          </a:prstGeom>
          <a:solidFill>
            <a:srgbClr val="F5F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62600" y="14503400"/>
            <a:ext cx="50800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6700" b="1">
                <a:solidFill>
                  <a:srgbClr val="174E88"/>
                </a:solidFill>
                <a:latin typeface="Calibri"/>
              </a:defRPr>
            </a:pPr>
            <a:r>
              <a:t>0,6023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0" y="15506700"/>
            <a:ext cx="5092700" cy="533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566375"/>
                </a:solidFill>
                <a:latin typeface="Calibri"/>
              </a:defRPr>
            </a:pPr>
            <a:r>
              <a:t>AMI: tipos de ataque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104600" y="14503400"/>
            <a:ext cx="50800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6700" b="1">
                <a:solidFill>
                  <a:srgbClr val="6938B7"/>
                </a:solidFill>
                <a:latin typeface="Calibri"/>
              </a:defRPr>
            </a:pPr>
            <a:r>
              <a:t>0,3692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130000" y="15506700"/>
            <a:ext cx="5130800" cy="533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566375"/>
                </a:solidFill>
                <a:latin typeface="Calibri"/>
              </a:defRPr>
            </a:pPr>
            <a:r>
              <a:t>AMI: normal × ataque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072100" y="16344900"/>
            <a:ext cx="11493500" cy="584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72C4D"/>
                </a:solidFill>
                <a:latin typeface="Calibri"/>
              </a:defRPr>
            </a:pPr>
            <a:r>
              <a:t>Macro-F1 do Random Forest no teste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59400" y="17106900"/>
            <a:ext cx="4470400" cy="5715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334155"/>
                </a:solidFill>
                <a:latin typeface="Calibri"/>
              </a:defRPr>
            </a:pPr>
            <a:r>
              <a:t>Binário (label)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631400" y="17145000"/>
            <a:ext cx="5016500" cy="419100"/>
          </a:xfrm>
          <a:prstGeom prst="roundRect">
            <a:avLst>
              <a:gd name="adj" fmla="val 8000"/>
            </a:avLst>
          </a:prstGeom>
          <a:solidFill>
            <a:srgbClr val="E9EE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2631400" y="17145000"/>
            <a:ext cx="5012988" cy="419100"/>
          </a:xfrm>
          <a:prstGeom prst="roundRect">
            <a:avLst>
              <a:gd name="adj" fmla="val 8000"/>
            </a:avLst>
          </a:prstGeom>
          <a:solidFill>
            <a:srgbClr val="174E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813000" y="17106900"/>
            <a:ext cx="1701800" cy="5715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172C4D"/>
                </a:solidFill>
                <a:latin typeface="Calibri"/>
              </a:defRPr>
            </a:pPr>
            <a:r>
              <a:t>0,9993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059400" y="18021300"/>
            <a:ext cx="4470400" cy="5715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334155"/>
                </a:solidFill>
                <a:latin typeface="Calibri"/>
              </a:defRPr>
            </a:pPr>
            <a:r>
              <a:t>Tipos (type)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631400" y="18059400"/>
            <a:ext cx="5016500" cy="419100"/>
          </a:xfrm>
          <a:prstGeom prst="roundRect">
            <a:avLst>
              <a:gd name="adj" fmla="val 8000"/>
            </a:avLst>
          </a:prstGeom>
          <a:solidFill>
            <a:srgbClr val="E9EE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2631400" y="18059400"/>
            <a:ext cx="4778216" cy="419100"/>
          </a:xfrm>
          <a:prstGeom prst="roundRect">
            <a:avLst>
              <a:gd name="adj" fmla="val 8000"/>
            </a:avLst>
          </a:prstGeom>
          <a:solidFill>
            <a:srgbClr val="693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813000" y="18021300"/>
            <a:ext cx="1701800" cy="5715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172C4D"/>
                </a:solidFill>
                <a:latin typeface="Calibri"/>
              </a:defRPr>
            </a:pPr>
            <a:r>
              <a:t>0,9525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59400" y="18935700"/>
            <a:ext cx="4470400" cy="5715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334155"/>
                </a:solidFill>
                <a:latin typeface="Calibri"/>
              </a:defRPr>
            </a:pPr>
            <a:r>
              <a:t>Clusters (k=30)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631400" y="18973800"/>
            <a:ext cx="5016500" cy="419100"/>
          </a:xfrm>
          <a:prstGeom prst="roundRect">
            <a:avLst>
              <a:gd name="adj" fmla="val 8000"/>
            </a:avLst>
          </a:prstGeom>
          <a:solidFill>
            <a:srgbClr val="E9EE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2631400" y="18973800"/>
            <a:ext cx="3836619" cy="419100"/>
          </a:xfrm>
          <a:prstGeom prst="roundRect">
            <a:avLst>
              <a:gd name="adj" fmla="val 8000"/>
            </a:avLst>
          </a:prstGeom>
          <a:solidFill>
            <a:srgbClr val="3765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13000" y="18935700"/>
            <a:ext cx="1701800" cy="5715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100" b="1">
                <a:solidFill>
                  <a:srgbClr val="172C4D"/>
                </a:solidFill>
                <a:latin typeface="Calibri"/>
              </a:defRPr>
            </a:pPr>
            <a:r>
              <a:t>0,7648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084800" y="19964400"/>
            <a:ext cx="11595100" cy="55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566375"/>
                </a:solidFill>
                <a:latin typeface="Calibri"/>
              </a:defRPr>
            </a:pPr>
            <a:r>
              <a:t>Teste de permutação: p = 0,005 (200 embaralhamentos).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84800" y="20510500"/>
            <a:ext cx="11607800" cy="55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DoS e backdoor: alta pureza; MITM: padrões menos distintos.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084800" y="23279100"/>
            <a:ext cx="177800" cy="177800"/>
          </a:xfrm>
          <a:prstGeom prst="roundRect">
            <a:avLst>
              <a:gd name="adj" fmla="val 8000"/>
            </a:avLst>
          </a:prstGeom>
          <a:solidFill>
            <a:srgbClr val="693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567400" y="23063200"/>
            <a:ext cx="10871200" cy="1879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300" b="0">
                <a:solidFill>
                  <a:srgbClr val="334155"/>
                </a:solidFill>
                <a:latin typeface="Calibri"/>
              </a:defRPr>
            </a:pPr>
            <a:r>
              <a:t>Os clusters apresentaram alinhamento parcial com as famílias de ataque; algumas classes foram bem separadas, enquanto MITM e injection tiveram maior sobreposição.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084800" y="25400000"/>
            <a:ext cx="177800" cy="177800"/>
          </a:xfrm>
          <a:prstGeom prst="roundRect">
            <a:avLst>
              <a:gd name="adj" fmla="val 8000"/>
            </a:avLst>
          </a:prstGeom>
          <a:solidFill>
            <a:srgbClr val="693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567400" y="25184100"/>
            <a:ext cx="10871200" cy="1651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300" b="0">
                <a:solidFill>
                  <a:srgbClr val="334155"/>
                </a:solidFill>
                <a:latin typeface="Calibri"/>
              </a:defRPr>
            </a:pPr>
            <a:r>
              <a:t>Apesar do alto macro-F1 do Random Forest, a avaliação por grupos revelou maior dificuldade na predição de clusters; a implantação em gateways ainda é trabalho futuro.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084800" y="27190700"/>
            <a:ext cx="11518900" cy="1435100"/>
          </a:xfrm>
          <a:prstGeom prst="roundRect">
            <a:avLst>
              <a:gd name="adj" fmla="val 8000"/>
            </a:avLst>
          </a:prstGeom>
          <a:solidFill>
            <a:srgbClr val="EF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351500" y="27317700"/>
            <a:ext cx="10909300" cy="5969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3200" b="1">
                <a:solidFill>
                  <a:srgbClr val="172C4D"/>
                </a:solidFill>
                <a:latin typeface="Calibri"/>
              </a:defRPr>
            </a:pPr>
            <a:r>
              <a:t>Validação comum × validação por grupos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351500" y="27940000"/>
            <a:ext cx="10922000" cy="558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6938B7"/>
                </a:solidFill>
                <a:latin typeface="Calibri"/>
              </a:defRPr>
            </a:pPr>
            <a:r>
              <a:t>Macro-F1 dos clusters: 0,9993 → 0,7967 (CV); 0,7648 no teste.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59400" y="31153100"/>
            <a:ext cx="11569700" cy="1168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1. CHEN et al. (2018). Internet-of-Things Security and Vulnerabilities. Journal of Hardware and Systems Security.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059400" y="32486600"/>
            <a:ext cx="11569700" cy="1168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2. CHIANG et al. (2017). Clarifying Fog Computing and Networking. IEEE Communications Magazine.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059400" y="33794700"/>
            <a:ext cx="11569700" cy="1168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3. MOUSTAFA (2021). Network TON_IoT Datasets. Sustainable Cities and Society.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059400" y="35128200"/>
            <a:ext cx="11569700" cy="1168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  <a:defRPr sz="2900" b="0">
                <a:solidFill>
                  <a:srgbClr val="334155"/>
                </a:solidFill>
                <a:latin typeface="Calibri"/>
              </a:defRPr>
            </a:pPr>
            <a:r>
              <a:t>4. PEREIRA; SOUZA; FERNANDES (2026). Abordagem em duas fases para detecção e classificação de ataques em redes IoT com computação em névoa. SBCUP.</a:t>
            </a:r>
          </a:p>
        </p:txBody>
      </p:sp>
      <p:pic>
        <p:nvPicPr>
          <p:cNvPr id="74" name="Picture 73" descr="_sia_white_caption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40703500"/>
            <a:ext cx="17526000" cy="10795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874000" y="40817800"/>
            <a:ext cx="16764000" cy="6223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3100" b="1">
                <a:solidFill>
                  <a:srgbClr val="344155"/>
                </a:solidFill>
                <a:latin typeface="Calibri"/>
              </a:defRPr>
            </a:pPr>
            <a:r>
              <a:t>Bolsa PIBIC/CNPq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